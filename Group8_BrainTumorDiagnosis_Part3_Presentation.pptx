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Brain Tumor Diagnosis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Group 8</a:t>
            </a:r>
            <a:br/>
            <a:br/>
            <a:r>
              <a:t>Tarik Bilgin Demirci – Technical Lead (Student 1)</a:t>
            </a:r>
            <a:br/>
            <a:r>
              <a:t>Umut Turklay – Figures, Tables &amp; Presentation (Student 2)</a:t>
            </a:r>
            <a:br/>
            <a:r>
              <a:t>Berk Kahraman – Report &amp; Storytelling (Student 3)</a:t>
            </a:r>
            <a:br/>
            <a:br/>
            <a:r>
              <a:t>Pattern Recognition | Winter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383280"/>
            <a:ext cx="48764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188720"/>
            <a:ext cx="11643055" cy="5120640"/>
          </a:xfrm>
          <a:prstGeom prst="roundRect">
            <a:avLst/>
          </a:prstGeom>
          <a:solidFill>
            <a:srgbClr val="FAFC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Brain tumors are life-threatening conditions requiring accurate and timely diagnosis</a:t>
            </a:r>
          </a:p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Manual MRI analysis is time-consuming and prone to inter-observer variability</a:t>
            </a:r>
          </a:p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Need for automated, reliable, and interpretable diagnostic systems</a:t>
            </a:r>
          </a:p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Challenge: Achieve high accuracy while maintaining clinical trust</a:t>
            </a:r>
          </a:p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Goal: Develop a hybrid AI system combining deep learning with clinical knowledge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188720"/>
            <a:ext cx="11643055" cy="5120640"/>
          </a:xfrm>
          <a:prstGeom prst="roundRect">
            <a:avLst/>
          </a:prstGeom>
          <a:solidFill>
            <a:srgbClr val="FAFC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RQ1: How effectively can CNNs classify brain tumor types from MRI scans?</a:t>
            </a:r>
          </a:p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RQ2: Can meta-learning with shape descriptors improve classification accuracy?</a:t>
            </a:r>
          </a:p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RQ3: How can rule-based clinical knowledge enhance diagnostic reliability?</a:t>
            </a:r>
          </a:p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RQ4: What is the impact of explainability techniques (Grad-CAM) on interpretability?</a:t>
            </a:r>
          </a:p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RQ5: How do different architectures (ResNet, EfficientNet, DenseNet) compare?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Literature Review / Related Work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1304" y="128016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Author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Deepak &amp; Ameer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GoogleNet + SVM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CE-MRI (3064)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98.0%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No explainability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Afshar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CapsNet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CE-MRI (3064)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Limited tumor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Badza &amp; Barjaktarovic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CNN (Custom)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Figshare (3064)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96.6%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No clinical integration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Swati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VGG-19 Transfer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CE-MRI (3064)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94.8%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Single 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Our Work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Xception+Meta+Rules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Kaggle (7023)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99.5%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12529"/>
                          </a:solidFill>
                        </a:defRPr>
                      </a:pPr>
                      <a:r>
                        <a:t>Hybrid approach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29768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505050"/>
                </a:solidFill>
              </a:defRPr>
            </a:pPr>
            <a:r>
              <a:t>Our work: Combining CNN with meta-learning and rule-based clinical integration for improved reliability.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5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143000"/>
            <a:ext cx="11643055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Q1_Fi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77295" cy="3931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4320" y="5349240"/>
            <a:ext cx="11643055" cy="1051560"/>
          </a:xfrm>
          <a:prstGeom prst="roundRect">
            <a:avLst/>
          </a:prstGeom>
          <a:solidFill>
            <a:srgbClr val="F0F8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4406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12529"/>
                </a:solidFill>
              </a:defRPr>
            </a:pPr>
            <a:r>
              <a:t>● Source: Kaggle Brain Tumor MRI Dataset | 4 Classes: Glioma, Meningioma, Pituitary, No Tumor</a:t>
            </a:r>
          </a:p>
          <a:p>
            <a:pPr>
              <a:defRPr sz="1400">
                <a:solidFill>
                  <a:srgbClr val="212529"/>
                </a:solidFill>
              </a:defRPr>
            </a:pPr>
            <a:r>
              <a:t>● Total: 5,712 training | 655 validation | 656 test images | Size: 299×299 RGB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6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Network Architecture: Xception (Primary Model)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97280"/>
            <a:ext cx="1164305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rchitecture_X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673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7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Network Architecture: Comparison Models (RQ5)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97280"/>
            <a:ext cx="1164305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rchitectu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6736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8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Methodology: Hybrid Classification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097280"/>
            <a:ext cx="1164305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ethodolog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77295" cy="56736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9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182880"/>
            <a:ext cx="640080" cy="6400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200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CNN Classification Effectiveness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1097280"/>
            <a:ext cx="5669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Q1_Fi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2004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0" y="1097280"/>
          <a:ext cx="6035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1207008"/>
                <a:gridCol w="1207008"/>
                <a:gridCol w="1207008"/>
                <a:gridCol w="1207008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Glioma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Meningioma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 Tumor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203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Pituitary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150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656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82880" y="4572000"/>
            <a:ext cx="1179576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6344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Key Observations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Xception achieves 99.39% test accuracy on 4-class brain tumor classification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Perfect recall (100%) on No Tumor class - critical for avoiding false negatives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Balanced performance across all tumor types with F1 ≥ 0.99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10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182880"/>
            <a:ext cx="640080" cy="6400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200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Meta-Learning with Shape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1097280"/>
            <a:ext cx="5669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Q2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2004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0" y="1097280"/>
          <a:ext cx="60350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CNN Only (Xception)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99.39%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Meta-Learner (CNN + Shape)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+0.15%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82880" y="4572000"/>
            <a:ext cx="1179576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6344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Key Observations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Shape features (area, perimeter, circularity, solidity, irregularity) provide complementary information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Meta-learner (Logistic Regression) successfully combines CNN outputs with shape descriptors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Modest but consistent improvement demonstrates value of hybrid approach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182880"/>
            <a:ext cx="640080" cy="6400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200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RQ3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Rule-Based Clinical Integration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1097280"/>
            <a:ext cx="5669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Q3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2004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0" y="1097280"/>
          <a:ext cx="60350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Confidence Threshold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Irregularity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26.81 (90th pctl)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ACCEPT Rate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89.18% (585)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REFER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10.82% (71)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Accuracy on ACCEPT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99.66%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82880" y="4572000"/>
            <a:ext cx="1179576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6344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Key Observations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Rule engine flags uncertain cases based on confidence and tumor irregularity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89% of cases automatically accepted with higher accuracy (99.66%)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Remaining 11% referred to specialists - practical clinical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12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182880"/>
            <a:ext cx="640080" cy="6400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200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RQ4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Explainability with Grad-CAM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1097280"/>
            <a:ext cx="5669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Q4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2004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0" y="1097280"/>
          <a:ext cx="60350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Gradient-weighted Class Activation Mapping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Target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block14_sepconv2_act (Xception)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Heatmap highlighting influential regions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Enable clinician trust and understanding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82880" y="4572000"/>
            <a:ext cx="1179576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6344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Key Observations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Grad-CAM successfully highlights tumor regions that influence predictions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Provides visual explanation for each classification decision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Critical for clinical adoption and regulatory compliance (explainable AI)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13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20" y="182880"/>
            <a:ext cx="640080" cy="640080"/>
          </a:xfrm>
          <a:prstGeom prst="ellipse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32004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RQ5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Architecture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" y="1097280"/>
            <a:ext cx="56692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Q5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486400" cy="3200400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943600" y="1097280"/>
          <a:ext cx="60350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Time (s)</a:t>
                      </a:r>
                    </a:p>
                  </a:txBody>
                  <a:tcPr>
                    <a:solidFill>
                      <a:srgbClr val="00669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Xception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97.87%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21.1M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1,390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DenseNet121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2,431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ResNet50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32.93%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23.9M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2,416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EfficientNetB0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1,999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182880" y="4572000"/>
            <a:ext cx="1179576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00A6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663440"/>
            <a:ext cx="11430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99"/>
                </a:solidFill>
              </a:defRPr>
            </a:pPr>
            <a:r>
              <a:t>Key Observations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Xception significantly outperforms all other architectures for this task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DenseNet121 shows reasonable performance but lower than Xception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✓ ResNet50 and EfficientNetB0 fail to generalize - need different fine-tuning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45720"/>
          </a:xfrm>
          <a:prstGeom prst="rect">
            <a:avLst/>
          </a:prstGeom>
          <a:solidFill>
            <a:srgbClr val="00A6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Pattern Recognition | Group 8 | Brain Tumor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</a:defRPr>
            </a:pPr>
            <a:r>
              <a:t>14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342900"/>
            <a:ext cx="45720" cy="137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58600" y="388620"/>
            <a:ext cx="137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188720"/>
            <a:ext cx="11643055" cy="5120640"/>
          </a:xfrm>
          <a:prstGeom prst="roundRect">
            <a:avLst/>
          </a:prstGeom>
          <a:solidFill>
            <a:srgbClr val="FAFC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Key Findings:</a:t>
            </a:r>
          </a:p>
          <a:p>
            <a:pPr>
              <a:spcAft>
                <a:spcPts val="800"/>
              </a:spcAft>
              <a:defRPr sz="2000">
                <a:solidFill>
                  <a:srgbClr val="505050"/>
                </a:solidFill>
              </a:defRPr>
            </a:pPr>
            <a:r>
              <a:t>    • Xception CNN achieves 99.39% accuracy on brain tumor classification</a:t>
            </a:r>
          </a:p>
          <a:p>
            <a:pPr>
              <a:spcAft>
                <a:spcPts val="800"/>
              </a:spcAft>
              <a:defRPr sz="2000">
                <a:solidFill>
                  <a:srgbClr val="505050"/>
                </a:solidFill>
              </a:defRPr>
            </a:pPr>
            <a:r>
              <a:t>    • Meta-learning with shape features improves accuracy to 99.54%</a:t>
            </a:r>
          </a:p>
          <a:p>
            <a:pPr>
              <a:spcAft>
                <a:spcPts val="800"/>
              </a:spcAft>
              <a:defRPr sz="2000">
                <a:solidFill>
                  <a:srgbClr val="505050"/>
                </a:solidFill>
              </a:defRPr>
            </a:pPr>
            <a:r>
              <a:t>    • Rule-based engine enables 99.66% accuracy on 89% auto-accepted cases</a:t>
            </a:r>
          </a:p>
          <a:p>
            <a:pPr>
              <a:spcAft>
                <a:spcPts val="800"/>
              </a:spcAft>
              <a:defRPr sz="2000">
                <a:solidFill>
                  <a:srgbClr val="505050"/>
                </a:solidFill>
              </a:defRPr>
            </a:pPr>
            <a:r>
              <a:t>    • Grad-CAM provides interpretable visualizations for clinical trust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Limitations:</a:t>
            </a:r>
          </a:p>
          <a:p>
            <a:pPr>
              <a:spcAft>
                <a:spcPts val="800"/>
              </a:spcAft>
              <a:defRPr sz="2000">
                <a:solidFill>
                  <a:srgbClr val="505050"/>
                </a:solidFill>
              </a:defRPr>
            </a:pPr>
            <a:r>
              <a:t>    • Single dataset - needs multi-center validation</a:t>
            </a:r>
          </a:p>
          <a:p>
            <a:pPr>
              <a:spcAft>
                <a:spcPts val="800"/>
              </a:spcAft>
              <a:defRPr sz="2000">
                <a:solidFill>
                  <a:srgbClr val="505050"/>
                </a:solidFill>
              </a:defRPr>
            </a:pPr>
            <a:r>
              <a:t>    • Limited to 4 tumor types</a:t>
            </a:r>
          </a:p>
          <a:p>
            <a:pPr>
              <a:spcAft>
                <a:spcPts val="800"/>
              </a:spcAft>
              <a:defRPr sz="1200"/>
            </a:pPr>
          </a:p>
          <a:p>
            <a:pPr>
              <a:spcAft>
                <a:spcPts val="800"/>
              </a:spcAft>
              <a:defRPr sz="2200">
                <a:solidFill>
                  <a:srgbClr val="212529"/>
                </a:solidFill>
              </a:defRPr>
            </a:pPr>
            <a:r>
              <a:t>● Future Work:</a:t>
            </a:r>
          </a:p>
          <a:p>
            <a:pPr>
              <a:spcAft>
                <a:spcPts val="800"/>
              </a:spcAft>
              <a:defRPr sz="2000">
                <a:solidFill>
                  <a:srgbClr val="505050"/>
                </a:solidFill>
              </a:defRPr>
            </a:pPr>
            <a:r>
              <a:t>    • Extend to more tumor types and 3D MRI volumes</a:t>
            </a:r>
          </a:p>
          <a:p>
            <a:pPr>
              <a:spcAft>
                <a:spcPts val="800"/>
              </a:spcAft>
              <a:defRPr sz="2000">
                <a:solidFill>
                  <a:srgbClr val="505050"/>
                </a:solidFill>
              </a:defRPr>
            </a:pPr>
            <a:r>
              <a:t>    • Clinical trials for real-world deployment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